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86" r:id="rId5"/>
    <p:sldId id="258" r:id="rId6"/>
    <p:sldId id="287" r:id="rId7"/>
    <p:sldId id="304" r:id="rId8"/>
    <p:sldId id="288" r:id="rId9"/>
    <p:sldId id="289" r:id="rId10"/>
    <p:sldId id="290" r:id="rId11"/>
    <p:sldId id="294" r:id="rId12"/>
    <p:sldId id="291" r:id="rId13"/>
    <p:sldId id="302" r:id="rId14"/>
    <p:sldId id="292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2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B4E01-6A87-549C-0AAB-4CE6CD22BB16}" v="373" dt="2026-01-23T22:37:34.661"/>
    <p1510:client id="{CDA18772-90D6-063B-B540-FD8405FD84CA}" v="80" dt="2026-01-23T15:00:45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1" d="100"/>
          <a:sy n="101" d="100"/>
        </p:scale>
        <p:origin x="69" y="483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horse drawn carriage with horses and men riding on it&#10;&#10;AI-generated content may be incorrect.">
            <a:extLst>
              <a:ext uri="{FF2B5EF4-FFF2-40B4-BE49-F238E27FC236}">
                <a16:creationId xmlns:a16="http://schemas.microsoft.com/office/drawing/2014/main" id="{599D31ED-12B3-95AA-14E7-EC00FD87ADD5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3557367" y="1264863"/>
            <a:ext cx="8598664" cy="5590490"/>
          </a:xfrm>
          <a:prstGeom prst="rect">
            <a:avLst/>
          </a:prstGeom>
        </p:spPr>
      </p:pic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B04FFBDF-20AC-93CE-A857-66866F214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678" y="5939233"/>
            <a:ext cx="1290852" cy="79612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5B78FB0-E665-F799-C42D-15C106DD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07" y="-525187"/>
            <a:ext cx="9953308" cy="1780860"/>
          </a:xfrm>
        </p:spPr>
        <p:txBody>
          <a:bodyPr>
            <a:normAutofit/>
          </a:bodyPr>
          <a:lstStyle/>
          <a:p>
            <a:r>
              <a:rPr lang="en-US" sz="4000"/>
              <a:t>Prezentacija projekta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E9CC96D-2A90-06C1-35E8-0D1D1597B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462" y="1245231"/>
            <a:ext cx="2722880" cy="351284"/>
          </a:xfrm>
        </p:spPr>
        <p:txBody>
          <a:bodyPr>
            <a:noAutofit/>
          </a:bodyPr>
          <a:lstStyle/>
          <a:p>
            <a:r>
              <a:rPr lang="en-US" sz="2400"/>
              <a:t>AUTO SERVIS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F70381E-FFAD-4660-D83B-4E2CE5A804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0918" y="1716493"/>
            <a:ext cx="4166669" cy="2917191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283210" indent="-283210">
              <a:buNone/>
            </a:pPr>
            <a:r>
              <a:rPr lang="en-US" dirty="0">
                <a:ea typeface="+mn-lt"/>
                <a:cs typeface="+mn-lt"/>
              </a:rPr>
              <a:t>Tim:  TG 05.4 &lt;</a:t>
            </a:r>
            <a:r>
              <a:rPr lang="en-US" b="1" err="1">
                <a:ea typeface="+mn-lt"/>
                <a:cs typeface="+mn-lt"/>
              </a:rPr>
              <a:t>Harlemova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kočija</a:t>
            </a:r>
            <a:r>
              <a:rPr lang="en-US" dirty="0">
                <a:ea typeface="+mn-lt"/>
                <a:cs typeface="+mn-lt"/>
              </a:rPr>
              <a:t>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Ak. god. 2025./2025.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3B0342E-58EB-75FD-774E-D7B70E4526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673050" y="6358930"/>
            <a:ext cx="5516880" cy="351284"/>
          </a:xfrm>
        </p:spPr>
        <p:txBody>
          <a:bodyPr/>
          <a:lstStyle/>
          <a:p>
            <a:r>
              <a:rPr lang="en-US"/>
              <a:t>PROGRAMSKO INŽENJERSTVO ID 183400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A4E0-4D99-F84B-B6D4-650B571F7A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7A7323-812F-2A3D-E54C-E51D0AC4E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538474"/>
            <a:ext cx="2119953" cy="1324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61509-7867-C021-4E04-BC0F3DDFB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963" y="5753349"/>
            <a:ext cx="1000411" cy="886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92F6A1-D08A-74E4-28BE-A5905A204C5D}"/>
              </a:ext>
            </a:extLst>
          </p:cNvPr>
          <p:cNvSpPr txBox="1"/>
          <p:nvPr/>
        </p:nvSpPr>
        <p:spPr>
          <a:xfrm>
            <a:off x="5502786" y="5169430"/>
            <a:ext cx="51566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Softversko-razvojni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Harlemova</a:t>
            </a:r>
            <a:r>
              <a:rPr lang="en-US" dirty="0"/>
              <a:t> </a:t>
            </a:r>
            <a:r>
              <a:rPr lang="en-US" dirty="0" err="1"/>
              <a:t>kočija</a:t>
            </a:r>
          </a:p>
        </p:txBody>
      </p:sp>
    </p:spTree>
    <p:extLst>
      <p:ext uri="{BB962C8B-B14F-4D97-AF65-F5344CB8AC3E}">
        <p14:creationId xmlns:p14="http://schemas.microsoft.com/office/powerpoint/2010/main" val="303961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918" y="-1606"/>
            <a:ext cx="7288282" cy="2121177"/>
          </a:xfrm>
        </p:spPr>
        <p:txBody>
          <a:bodyPr>
            <a:normAutofit/>
          </a:bodyPr>
          <a:lstStyle/>
          <a:p>
            <a:r>
              <a:rPr lang="en-US" sz="3600" b="1"/>
              <a:t>Sadržaj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988" y="2359581"/>
            <a:ext cx="7288212" cy="340705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200" b="0" dirty="0"/>
          </a:p>
          <a:p>
            <a:pPr marL="283210" lvl="1"/>
            <a:r>
              <a:rPr lang="en-US" sz="2200" dirty="0"/>
              <a:t>O </a:t>
            </a:r>
            <a:r>
              <a:rPr lang="en-US" sz="2200" err="1"/>
              <a:t>projektu</a:t>
            </a:r>
            <a:endParaRPr lang="en-US" sz="2200"/>
          </a:p>
          <a:p>
            <a:pPr marL="283210" lvl="1"/>
            <a:r>
              <a:rPr lang="en-US" sz="2200" dirty="0" err="1"/>
              <a:t>Članovi</a:t>
            </a:r>
            <a:r>
              <a:rPr lang="en-US" sz="2200" dirty="0"/>
              <a:t> </a:t>
            </a:r>
            <a:r>
              <a:rPr lang="en-US" sz="2200" dirty="0" err="1"/>
              <a:t>tima</a:t>
            </a:r>
          </a:p>
          <a:p>
            <a:pPr marL="283210" lvl="1"/>
            <a:r>
              <a:rPr lang="en-US" sz="2200" dirty="0" err="1"/>
              <a:t>Zahtjevi</a:t>
            </a:r>
            <a:r>
              <a:rPr lang="en-US" sz="2200" dirty="0"/>
              <a:t> </a:t>
            </a:r>
            <a:r>
              <a:rPr lang="en-US" sz="2200" dirty="0" err="1"/>
              <a:t>i</a:t>
            </a:r>
            <a:r>
              <a:rPr lang="en-US" sz="2200" dirty="0"/>
              <a:t> </a:t>
            </a:r>
            <a:r>
              <a:rPr lang="en-US" sz="2200" dirty="0" err="1"/>
              <a:t>arhitektura</a:t>
            </a:r>
            <a:endParaRPr lang="en-US" sz="2200"/>
          </a:p>
          <a:p>
            <a:pPr marL="283210" lvl="1"/>
            <a:r>
              <a:rPr lang="en-US" sz="2200" dirty="0" err="1"/>
              <a:t>Korišteni</a:t>
            </a:r>
            <a:r>
              <a:rPr lang="en-US" sz="2200" dirty="0"/>
              <a:t> </a:t>
            </a:r>
            <a:r>
              <a:rPr lang="en-US" sz="2200" dirty="0" err="1"/>
              <a:t>alati</a:t>
            </a:r>
            <a:r>
              <a:rPr lang="en-US" sz="2200" dirty="0"/>
              <a:t> </a:t>
            </a:r>
            <a:r>
              <a:rPr lang="en-US" sz="2200" dirty="0" err="1"/>
              <a:t>i</a:t>
            </a:r>
            <a:r>
              <a:rPr lang="en-US" sz="2200" dirty="0"/>
              <a:t> </a:t>
            </a:r>
            <a:r>
              <a:rPr lang="en-US" sz="2200" dirty="0" err="1"/>
              <a:t>tehnologije</a:t>
            </a:r>
            <a:endParaRPr lang="en-US" sz="2200"/>
          </a:p>
          <a:p>
            <a:pPr marL="283210" lvl="1"/>
            <a:r>
              <a:rPr lang="en-US" sz="2200" err="1"/>
              <a:t>Demonstracija</a:t>
            </a:r>
            <a:r>
              <a:rPr lang="en-US" sz="2200" dirty="0"/>
              <a:t> </a:t>
            </a:r>
            <a:r>
              <a:rPr lang="en-US" sz="2200" err="1"/>
              <a:t>aplikacije</a:t>
            </a:r>
            <a:endParaRPr lang="en-US" sz="2200"/>
          </a:p>
          <a:p>
            <a:pPr marL="283210" lvl="1"/>
            <a:r>
              <a:rPr lang="en-US" sz="2200" err="1"/>
              <a:t>Organizacija</a:t>
            </a:r>
            <a:r>
              <a:rPr lang="en-US" sz="2200" dirty="0"/>
              <a:t> rada</a:t>
            </a:r>
          </a:p>
          <a:p>
            <a:pPr marL="283210" lvl="1"/>
            <a:r>
              <a:rPr lang="en-US" sz="2200" dirty="0" err="1"/>
              <a:t>Iskustva</a:t>
            </a:r>
            <a:r>
              <a:rPr lang="en-US" sz="2200" dirty="0"/>
              <a:t> </a:t>
            </a:r>
            <a:r>
              <a:rPr lang="en-US" sz="2200" dirty="0" err="1"/>
              <a:t>i</a:t>
            </a:r>
            <a:r>
              <a:rPr lang="en-US" sz="2200" dirty="0"/>
              <a:t> </a:t>
            </a:r>
            <a:r>
              <a:rPr lang="en-US" sz="2200" dirty="0" err="1"/>
              <a:t>zaključak</a:t>
            </a:r>
            <a:endParaRPr lang="en-US" sz="22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98D292A-5215-75CC-F303-F62FEEED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624639"/>
            <a:ext cx="3247662" cy="1917700"/>
          </a:xfrm>
        </p:spPr>
        <p:txBody>
          <a:bodyPr/>
          <a:lstStyle/>
          <a:p>
            <a:r>
              <a:rPr lang="en-US" sz="2800" b="1" dirty="0"/>
              <a:t>O </a:t>
            </a:r>
            <a:r>
              <a:rPr lang="en-US" sz="2800" b="1" err="1"/>
              <a:t>projektu</a:t>
            </a:r>
            <a:endParaRPr lang="en-US" sz="2800" b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A746F84-94AA-8FB9-7CCF-F9E70124650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028700" y="2331786"/>
            <a:ext cx="3247662" cy="3238499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bio je </a:t>
            </a:r>
            <a:r>
              <a:rPr lang="en-US" dirty="0" err="1"/>
              <a:t>razviti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pritom</a:t>
            </a:r>
            <a:r>
              <a:rPr lang="en-US" dirty="0"/>
              <a:t>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dokumentirati</a:t>
            </a:r>
            <a:r>
              <a:rPr lang="en-US" dirty="0"/>
              <a:t> </a:t>
            </a:r>
            <a:r>
              <a:rPr lang="en-US" dirty="0" err="1"/>
              <a:t>aplikaciju</a:t>
            </a:r>
            <a:r>
              <a:rPr lang="en-US" dirty="0"/>
              <a:t> za rad auto </a:t>
            </a:r>
            <a:r>
              <a:rPr lang="en-US" dirty="0" err="1"/>
              <a:t>servisa</a:t>
            </a:r>
            <a:r>
              <a:rPr lang="en-US" dirty="0"/>
              <a:t>.</a:t>
            </a:r>
          </a:p>
          <a:p>
            <a:r>
              <a:rPr lang="en-US" dirty="0"/>
              <a:t>Web </a:t>
            </a:r>
            <a:r>
              <a:rPr lang="en-US" dirty="0" err="1"/>
              <a:t>aplikacija</a:t>
            </a:r>
            <a:r>
              <a:rPr lang="en-US" dirty="0"/>
              <a:t> Auto </a:t>
            </a:r>
            <a:r>
              <a:rPr lang="en-US" dirty="0" err="1"/>
              <a:t>servis</a:t>
            </a:r>
            <a:r>
              <a:rPr lang="en-US" dirty="0"/>
              <a:t> 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lako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digitalno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auto </a:t>
            </a:r>
            <a:r>
              <a:rPr lang="en-US" dirty="0" err="1"/>
              <a:t>servisom</a:t>
            </a:r>
            <a:r>
              <a:rPr lang="en-US" dirty="0"/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4FF7A-D498-DB56-EDE2-20FFCA32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97B3E1-DF8D-0B3D-78DB-EE95AAB91EA3}"/>
              </a:ext>
            </a:extLst>
          </p:cNvPr>
          <p:cNvSpPr txBox="1">
            <a:spLocks/>
          </p:cNvSpPr>
          <p:nvPr/>
        </p:nvSpPr>
        <p:spPr>
          <a:xfrm>
            <a:off x="5622759" y="1892632"/>
            <a:ext cx="4551083" cy="4120815"/>
          </a:xfrm>
          <a:prstGeom prst="rect">
            <a:avLst/>
          </a:prstGeom>
        </p:spPr>
        <p:txBody>
          <a:bodyPr vert="horz" lIns="91440" tIns="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285750" indent="-285750">
              <a:buChar char="•"/>
            </a:pPr>
            <a:r>
              <a:rPr lang="en-US" dirty="0"/>
              <a:t> </a:t>
            </a:r>
            <a:r>
              <a:rPr lang="en-US" err="1"/>
              <a:t>Korisniku</a:t>
            </a:r>
            <a:r>
              <a:rPr lang="en-US" dirty="0"/>
              <a:t>, </a:t>
            </a:r>
            <a:r>
              <a:rPr lang="en-US" err="1"/>
              <a:t>klijentu</a:t>
            </a:r>
            <a:r>
              <a:rPr lang="en-US" dirty="0"/>
              <a:t> </a:t>
            </a:r>
            <a:r>
              <a:rPr lang="en-US" err="1"/>
              <a:t>omogućava</a:t>
            </a:r>
            <a:r>
              <a:rPr lang="en-US" dirty="0"/>
              <a:t> </a:t>
            </a:r>
            <a:r>
              <a:rPr lang="en-US" err="1"/>
              <a:t>zakazivanje</a:t>
            </a:r>
            <a:r>
              <a:rPr lang="en-US" dirty="0"/>
              <a:t> termina </a:t>
            </a:r>
            <a:r>
              <a:rPr lang="en-US" err="1"/>
              <a:t>i</a:t>
            </a:r>
            <a:r>
              <a:rPr lang="en-US" dirty="0"/>
              <a:t> </a:t>
            </a:r>
            <a:r>
              <a:rPr lang="en-US" err="1"/>
              <a:t>praćenje</a:t>
            </a:r>
            <a:r>
              <a:rPr lang="en-US" dirty="0"/>
              <a:t> </a:t>
            </a:r>
            <a:r>
              <a:rPr lang="en-US" err="1"/>
              <a:t>statusa</a:t>
            </a:r>
            <a:r>
              <a:rPr lang="en-US" dirty="0"/>
              <a:t> </a:t>
            </a:r>
            <a:r>
              <a:rPr lang="en-US" err="1"/>
              <a:t>popravka</a:t>
            </a:r>
            <a:endParaRPr lang="en-US" dirty="0" err="1"/>
          </a:p>
          <a:p>
            <a:pPr marL="285750" indent="-285750">
              <a:buChar char="•"/>
            </a:pPr>
            <a:r>
              <a:rPr lang="en-US" dirty="0" err="1"/>
              <a:t>Radnicima</a:t>
            </a:r>
            <a:r>
              <a:rPr lang="en-US" dirty="0"/>
              <a:t>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automobile, u </a:t>
            </a:r>
            <a:r>
              <a:rPr lang="en-US" dirty="0" err="1"/>
              <a:t>opseg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radom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 err="1"/>
              <a:t>Vlasniku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 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za </a:t>
            </a:r>
            <a:r>
              <a:rPr lang="en-US" dirty="0" err="1"/>
              <a:t>detaljnu</a:t>
            </a:r>
            <a:r>
              <a:rPr lang="en-US" dirty="0"/>
              <a:t> </a:t>
            </a:r>
            <a:r>
              <a:rPr lang="en-US" dirty="0" err="1"/>
              <a:t>poslovnu</a:t>
            </a:r>
            <a:r>
              <a:rPr lang="en-US" dirty="0"/>
              <a:t> </a:t>
            </a:r>
            <a:r>
              <a:rPr lang="en-US" dirty="0" err="1"/>
              <a:t>analizu</a:t>
            </a:r>
            <a:r>
              <a:rPr lang="en-US" dirty="0"/>
              <a:t>, </a:t>
            </a:r>
            <a:r>
              <a:rPr lang="en-US" dirty="0" err="1"/>
              <a:t>omogućava</a:t>
            </a:r>
            <a:r>
              <a:rPr lang="en-US" dirty="0"/>
              <a:t> mu </a:t>
            </a:r>
            <a:r>
              <a:rPr lang="en-US" dirty="0" err="1"/>
              <a:t>pregled</a:t>
            </a:r>
            <a:r>
              <a:rPr lang="en-US" dirty="0"/>
              <a:t> </a:t>
            </a:r>
            <a:r>
              <a:rPr lang="en-US" dirty="0" err="1"/>
              <a:t>statistike</a:t>
            </a:r>
            <a:r>
              <a:rPr lang="en-US" dirty="0"/>
              <a:t> </a:t>
            </a:r>
            <a:r>
              <a:rPr lang="en-US" dirty="0" err="1"/>
              <a:t>vezane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njegov</a:t>
            </a:r>
            <a:r>
              <a:rPr lang="en-US" dirty="0"/>
              <a:t> </a:t>
            </a:r>
            <a:r>
              <a:rPr lang="en-US" dirty="0" err="1"/>
              <a:t>posao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proces</a:t>
            </a:r>
            <a:r>
              <a:rPr lang="en-US" dirty="0"/>
              <a:t> rada </a:t>
            </a:r>
            <a:r>
              <a:rPr lang="en-US" dirty="0" err="1"/>
              <a:t>cijelog</a:t>
            </a:r>
            <a:r>
              <a:rPr lang="en-US" dirty="0"/>
              <a:t> auto </a:t>
            </a:r>
            <a:r>
              <a:rPr lang="en-US" dirty="0" err="1"/>
              <a:t>servisa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6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8C1764A-D047-3873-E8D8-EBB305CC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sz="3200" err="1"/>
              <a:t>Članovi</a:t>
            </a:r>
            <a:r>
              <a:rPr lang="en-US" sz="3200"/>
              <a:t> </a:t>
            </a:r>
            <a:r>
              <a:rPr lang="en-US" sz="3200" err="1"/>
              <a:t>tima</a:t>
            </a:r>
            <a:r>
              <a:rPr lang="en-US" sz="3200"/>
              <a:t> I </a:t>
            </a:r>
            <a:r>
              <a:rPr lang="en-US" sz="3200" err="1"/>
              <a:t>zaduženja</a:t>
            </a:r>
            <a:endParaRPr lang="en-US" sz="320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BD448628-9FFB-31AE-5C90-B07131F796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345934" y="2933833"/>
            <a:ext cx="5647088" cy="3422515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sz="2000" err="1">
                <a:ea typeface="+mn-lt"/>
                <a:cs typeface="+mn-lt"/>
              </a:rPr>
              <a:t>Grabant</a:t>
            </a:r>
            <a:r>
              <a:rPr lang="en-US" sz="2000" dirty="0">
                <a:ea typeface="+mn-lt"/>
                <a:cs typeface="+mn-lt"/>
              </a:rPr>
              <a:t> David – </a:t>
            </a:r>
            <a:r>
              <a:rPr lang="en-US" sz="2000" err="1">
                <a:ea typeface="+mn-lt"/>
                <a:cs typeface="+mn-lt"/>
              </a:rPr>
              <a:t>voditelj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dokumentacija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Nell Dora - frontend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Šantak</a:t>
            </a:r>
            <a:r>
              <a:rPr lang="en-US" sz="2000" dirty="0">
                <a:ea typeface="+mn-lt"/>
                <a:cs typeface="+mn-lt"/>
              </a:rPr>
              <a:t> Antonio –backend, </a:t>
            </a:r>
            <a:r>
              <a:rPr lang="en-US" sz="2000" err="1">
                <a:ea typeface="+mn-lt"/>
                <a:cs typeface="+mn-lt"/>
              </a:rPr>
              <a:t>baza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podataka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Car Mihael - frontend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Žlender</a:t>
            </a:r>
            <a:r>
              <a:rPr lang="en-US" sz="2000" dirty="0">
                <a:ea typeface="+mn-lt"/>
                <a:cs typeface="+mn-lt"/>
              </a:rPr>
              <a:t> Luka - </a:t>
            </a:r>
            <a:r>
              <a:rPr lang="en-US" sz="2000" err="1">
                <a:ea typeface="+mn-lt"/>
                <a:cs typeface="+mn-lt"/>
              </a:rPr>
              <a:t>dokumentacija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Ivelić</a:t>
            </a:r>
            <a:r>
              <a:rPr lang="en-US" sz="2000" dirty="0">
                <a:ea typeface="+mn-lt"/>
                <a:cs typeface="+mn-lt"/>
              </a:rPr>
              <a:t> Luka - backend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E7A6E-7612-4F91-D192-C4C5AB4D51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8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0E51-8680-76AF-55F5-FF93B6559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287" y="281166"/>
            <a:ext cx="6616504" cy="1917700"/>
          </a:xfrm>
        </p:spPr>
        <p:txBody>
          <a:bodyPr/>
          <a:lstStyle/>
          <a:p>
            <a:r>
              <a:rPr lang="en-US"/>
              <a:t>Primjeri funkcijskih zahtjeva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9132EBC-3CFA-DE02-3D1D-4A7253AFA2D7}"/>
              </a:ext>
            </a:extLst>
          </p:cNvPr>
          <p:cNvGraphicFramePr>
            <a:graphicFrameLocks noGrp="1"/>
          </p:cNvGraphicFramePr>
          <p:nvPr>
            <p:ph sz="half" idx="16"/>
            <p:extLst>
              <p:ext uri="{D42A27DB-BD31-4B8C-83A1-F6EECF244321}">
                <p14:modId xmlns:p14="http://schemas.microsoft.com/office/powerpoint/2010/main" val="278362830"/>
              </p:ext>
            </p:extLst>
          </p:nvPr>
        </p:nvGraphicFramePr>
        <p:xfrm>
          <a:off x="3158289" y="2356184"/>
          <a:ext cx="8091790" cy="53818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18358">
                  <a:extLst>
                    <a:ext uri="{9D8B030D-6E8A-4147-A177-3AD203B41FA5}">
                      <a16:colId xmlns:a16="http://schemas.microsoft.com/office/drawing/2014/main" val="3949357962"/>
                    </a:ext>
                  </a:extLst>
                </a:gridCol>
                <a:gridCol w="1618358">
                  <a:extLst>
                    <a:ext uri="{9D8B030D-6E8A-4147-A177-3AD203B41FA5}">
                      <a16:colId xmlns:a16="http://schemas.microsoft.com/office/drawing/2014/main" val="3371106773"/>
                    </a:ext>
                  </a:extLst>
                </a:gridCol>
                <a:gridCol w="1618358">
                  <a:extLst>
                    <a:ext uri="{9D8B030D-6E8A-4147-A177-3AD203B41FA5}">
                      <a16:colId xmlns:a16="http://schemas.microsoft.com/office/drawing/2014/main" val="3174192977"/>
                    </a:ext>
                  </a:extLst>
                </a:gridCol>
                <a:gridCol w="1618358">
                  <a:extLst>
                    <a:ext uri="{9D8B030D-6E8A-4147-A177-3AD203B41FA5}">
                      <a16:colId xmlns:a16="http://schemas.microsoft.com/office/drawing/2014/main" val="620359107"/>
                    </a:ext>
                  </a:extLst>
                </a:gridCol>
                <a:gridCol w="1618358">
                  <a:extLst>
                    <a:ext uri="{9D8B030D-6E8A-4147-A177-3AD203B41FA5}">
                      <a16:colId xmlns:a16="http://schemas.microsoft.com/office/drawing/2014/main" val="494871630"/>
                    </a:ext>
                  </a:extLst>
                </a:gridCol>
              </a:tblGrid>
              <a:tr h="53818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74731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20D5F-B688-0836-E888-2E7A7327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6816CC-972C-C475-B879-93EA64189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97917"/>
              </p:ext>
            </p:extLst>
          </p:nvPr>
        </p:nvGraphicFramePr>
        <p:xfrm>
          <a:off x="0" y="3220453"/>
          <a:ext cx="1219200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31548084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016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639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966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996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25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37161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CD4E1F-E043-04BC-3C95-AB678BB02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216189"/>
              </p:ext>
            </p:extLst>
          </p:nvPr>
        </p:nvGraphicFramePr>
        <p:xfrm>
          <a:off x="561473" y="2093495"/>
          <a:ext cx="11076072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9018">
                  <a:extLst>
                    <a:ext uri="{9D8B030D-6E8A-4147-A177-3AD203B41FA5}">
                      <a16:colId xmlns:a16="http://schemas.microsoft.com/office/drawing/2014/main" val="3845612688"/>
                    </a:ext>
                  </a:extLst>
                </a:gridCol>
                <a:gridCol w="2769018">
                  <a:extLst>
                    <a:ext uri="{9D8B030D-6E8A-4147-A177-3AD203B41FA5}">
                      <a16:colId xmlns:a16="http://schemas.microsoft.com/office/drawing/2014/main" val="4136909417"/>
                    </a:ext>
                  </a:extLst>
                </a:gridCol>
                <a:gridCol w="2769018">
                  <a:extLst>
                    <a:ext uri="{9D8B030D-6E8A-4147-A177-3AD203B41FA5}">
                      <a16:colId xmlns:a16="http://schemas.microsoft.com/office/drawing/2014/main" val="3771498755"/>
                    </a:ext>
                  </a:extLst>
                </a:gridCol>
                <a:gridCol w="2769018">
                  <a:extLst>
                    <a:ext uri="{9D8B030D-6E8A-4147-A177-3AD203B41FA5}">
                      <a16:colId xmlns:a16="http://schemas.microsoft.com/office/drawing/2014/main" val="2921479945"/>
                    </a:ext>
                  </a:extLst>
                </a:gridCol>
              </a:tblGrid>
              <a:tr h="310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382565"/>
                  </a:ext>
                </a:extLst>
              </a:tr>
              <a:tr h="31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ID </a:t>
                      </a:r>
                      <a:r>
                        <a:rPr lang="en-US" b="1" dirty="0" err="1"/>
                        <a:t>zahtjeva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F-13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023522"/>
                  </a:ext>
                </a:extLst>
              </a:tr>
              <a:tr h="1233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Opis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Registrirani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korisnik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unijeti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osnovne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podatke</a:t>
                      </a:r>
                      <a:r>
                        <a:rPr lang="en-US" dirty="0"/>
                        <a:t> o </a:t>
                      </a:r>
                      <a:r>
                        <a:rPr lang="en-US" dirty="0" err="1"/>
                        <a:t>vozilu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marka</a:t>
                      </a:r>
                      <a:r>
                        <a:rPr lang="en-US" dirty="0"/>
                        <a:t>, model, </a:t>
                      </a:r>
                      <a:r>
                        <a:rPr lang="en-US" dirty="0" err="1"/>
                        <a:t>godina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registracija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opis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problema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Administrator </a:t>
                      </a:r>
                      <a:r>
                        <a:rPr lang="en-US" err="1"/>
                        <a:t>može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dodavati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uređivati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brisati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podatke</a:t>
                      </a:r>
                      <a:r>
                        <a:rPr lang="en-US"/>
                        <a:t> o </a:t>
                      </a:r>
                      <a:r>
                        <a:rPr lang="en-US" err="1"/>
                        <a:t>servisu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serviserima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korisnicima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Sustav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omogućuje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izvoz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svih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podataka</a:t>
                      </a:r>
                      <a:r>
                        <a:rPr lang="en-US"/>
                        <a:t> u PDF, XML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XLSX </a:t>
                      </a:r>
                      <a:r>
                        <a:rPr lang="en-US" err="1"/>
                        <a:t>formatu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786676"/>
                  </a:ext>
                </a:extLst>
              </a:tr>
              <a:tr h="31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Prioritet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17254"/>
                  </a:ext>
                </a:extLst>
              </a:tr>
              <a:tr h="31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Izvor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Zahtjev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korisnika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Zahtjev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voditelja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servisa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Zahtjev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naručitelja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39332"/>
                  </a:ext>
                </a:extLst>
              </a:tr>
              <a:tr h="1002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Kriteriji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prihvaćanja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Nakon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unosa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podataka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sustav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pohranjuje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vozilo</a:t>
                      </a:r>
                      <a:r>
                        <a:rPr lang="en-US" dirty="0"/>
                        <a:t> u </a:t>
                      </a:r>
                      <a:r>
                        <a:rPr lang="en-US" dirty="0" err="1"/>
                        <a:t>bazu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povezuje</a:t>
                      </a:r>
                      <a:r>
                        <a:rPr lang="en-US" dirty="0"/>
                        <a:t> ga s </a:t>
                      </a:r>
                      <a:r>
                        <a:rPr lang="en-US" dirty="0" err="1"/>
                        <a:t>korisnikom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Administrator </a:t>
                      </a:r>
                      <a:r>
                        <a:rPr lang="en-US" dirty="0" err="1"/>
                        <a:t>vidi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sve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entitete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sustava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ovlasti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izmjene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Korisnik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izvesti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izvještaje</a:t>
                      </a:r>
                      <a:r>
                        <a:rPr lang="en-US" dirty="0"/>
                        <a:t> u </a:t>
                      </a:r>
                      <a:r>
                        <a:rPr lang="en-US" dirty="0" err="1"/>
                        <a:t>odabranom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formatu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67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355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https://github-production-user-asset-6210df.s3.amazonaws.com/236045298/503805544-d64ec188-4dca-446a-8d29-02732fb1572d.png?X-Amz-Algorithm=AWS4-HMAC-SHA256&amp;X-Amz-Credential=AKIAVCODYLSA53PQK4ZA%2F20260120%2Fus-east-1%2Fs3%2Faws4_request&amp;X-Amz-Date=20260120T235147Z&amp;X-Amz-Expires=300&amp;X-Amz-Signature=033881511fb5ba88fa211802c06cca034789678c27242d6c6e53ebb9e4355a6f&amp;X-Amz-SignedHeaders=host">
            <a:extLst>
              <a:ext uri="{FF2B5EF4-FFF2-40B4-BE49-F238E27FC236}">
                <a16:creationId xmlns:a16="http://schemas.microsoft.com/office/drawing/2014/main" id="{C23E69E6-2627-E77F-AA5C-9D2094713DF9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3538684" y="1105319"/>
            <a:ext cx="8648404" cy="5752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DFE674-27D6-58FB-DBA1-A260C466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33" y="1493826"/>
            <a:ext cx="3083850" cy="2604736"/>
          </a:xfrm>
        </p:spPr>
        <p:txBody>
          <a:bodyPr>
            <a:normAutofit/>
          </a:bodyPr>
          <a:lstStyle/>
          <a:p>
            <a:r>
              <a:rPr lang="en-US" sz="3200" err="1"/>
              <a:t>PrimjeR</a:t>
            </a:r>
            <a:br>
              <a:rPr lang="en-US" sz="3200"/>
            </a:br>
            <a:r>
              <a:rPr lang="en-US" sz="3200"/>
              <a:t>UML </a:t>
            </a:r>
            <a:r>
              <a:rPr lang="en-US" sz="3200" err="1"/>
              <a:t>dijagrama</a:t>
            </a:r>
            <a:r>
              <a:rPr lang="en-US" sz="320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obrazaca</a:t>
            </a:r>
            <a:r>
              <a:rPr lang="en-US" sz="320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uporabe</a:t>
            </a:r>
            <a:r>
              <a:rPr lang="en-US" sz="3200" dirty="0"/>
              <a:t> 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BE3A1-8195-3865-C585-223A4B53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3742D6E-3744-0173-64EF-595C0797FF6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3F96C5-06F8-F5C0-6502-5753993CB4C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2F5F3-E28C-712B-0D85-76EECDB571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6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Dijagram_razmjestaja.png">
            <a:extLst>
              <a:ext uri="{FF2B5EF4-FFF2-40B4-BE49-F238E27FC236}">
                <a16:creationId xmlns:a16="http://schemas.microsoft.com/office/drawing/2014/main" id="{0D6ED172-B2E8-3B99-BF37-CEB7B514197F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2158066" y="1717994"/>
            <a:ext cx="9838088" cy="4701165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FAC2989-6743-0955-2A90-9440C138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73" y="-884988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sz="3200"/>
              <a:t>Arhitektura sustava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AED6699-CBF6-0ECC-5E3C-242F94C9F3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98647" y="1045877"/>
            <a:ext cx="3715484" cy="2385796"/>
          </a:xfrm>
        </p:spPr>
        <p:txBody>
          <a:bodyPr vert="horz" lIns="91440" tIns="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/>
              <a:t>Stil </a:t>
            </a:r>
            <a:r>
              <a:rPr lang="en-US" sz="2100" b="1" dirty="0" err="1"/>
              <a:t>arhitekture</a:t>
            </a:r>
            <a:endParaRPr lang="en-US" sz="1900" b="1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slojevita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arhitektura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razdvaja</a:t>
            </a:r>
            <a:r>
              <a:rPr lang="en-US" dirty="0">
                <a:ea typeface="+mn-lt"/>
                <a:cs typeface="+mn-lt"/>
              </a:rPr>
              <a:t> frontend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backend </a:t>
            </a:r>
            <a:r>
              <a:rPr lang="en-US" dirty="0" err="1">
                <a:ea typeface="+mn-lt"/>
                <a:cs typeface="+mn-lt"/>
              </a:rPr>
              <a:t>dijelove</a:t>
            </a:r>
            <a:endParaRPr lang="en-US" dirty="0" err="1"/>
          </a:p>
          <a:p>
            <a:pPr marL="283210" indent="-28321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unutar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backenda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primijenjen</a:t>
            </a:r>
            <a:r>
              <a:rPr lang="en-US" dirty="0">
                <a:ea typeface="+mn-lt"/>
                <a:cs typeface="+mn-lt"/>
              </a:rPr>
              <a:t> je MVC (Model–View–Controller) </a:t>
            </a:r>
            <a:r>
              <a:rPr lang="en-US" dirty="0" err="1">
                <a:ea typeface="+mn-lt"/>
                <a:cs typeface="+mn-lt"/>
              </a:rPr>
              <a:t>pristup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zbog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jasng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razdvajanjaodgovornosti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lakše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održavanje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sustava</a:t>
            </a:r>
            <a:endParaRPr lang="en-US" dirty="0" err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F8946-0DB6-E027-2BA4-D5F01303917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4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06040F-D916-95B3-5854-1205A4F4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/>
              <a:t>Alati I tehnologije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E45C6D6-D3F1-1A42-0879-70D38FB9C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ea typeface="+mn-lt"/>
                <a:cs typeface="+mn-lt"/>
              </a:rPr>
              <a:t>Node.JS za </a:t>
            </a:r>
            <a:r>
              <a:rPr lang="en-US" b="0" dirty="0" err="1">
                <a:ea typeface="+mn-lt"/>
                <a:cs typeface="+mn-lt"/>
              </a:rPr>
              <a:t>pokretanje</a:t>
            </a:r>
            <a:r>
              <a:rPr lang="en-US" b="0" dirty="0">
                <a:ea typeface="+mn-lt"/>
                <a:cs typeface="+mn-lt"/>
              </a:rPr>
              <a:t> front </a:t>
            </a:r>
            <a:r>
              <a:rPr lang="en-US" b="0" dirty="0" err="1">
                <a:ea typeface="+mn-lt"/>
                <a:cs typeface="+mn-lt"/>
              </a:rPr>
              <a:t>enda</a:t>
            </a:r>
            <a:r>
              <a:rPr lang="en-US" b="0" dirty="0">
                <a:ea typeface="+mn-lt"/>
                <a:cs typeface="+mn-lt"/>
              </a:rPr>
              <a:t> ( + three.js)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Docker, Spring Boot (Java) za </a:t>
            </a:r>
            <a:r>
              <a:rPr lang="en-US" b="0" dirty="0" err="1">
                <a:ea typeface="+mn-lt"/>
                <a:cs typeface="+mn-lt"/>
              </a:rPr>
              <a:t>pokretanje</a:t>
            </a:r>
            <a:r>
              <a:rPr lang="en-US" b="0" dirty="0">
                <a:ea typeface="+mn-lt"/>
                <a:cs typeface="+mn-lt"/>
              </a:rPr>
              <a:t> back </a:t>
            </a:r>
            <a:r>
              <a:rPr lang="en-US" b="0" dirty="0" err="1">
                <a:ea typeface="+mn-lt"/>
                <a:cs typeface="+mn-lt"/>
              </a:rPr>
              <a:t>enda</a:t>
            </a:r>
            <a:endParaRPr lang="en-US" dirty="0" err="1"/>
          </a:p>
          <a:p>
            <a:r>
              <a:rPr lang="en-US" b="0" dirty="0">
                <a:ea typeface="+mn-lt"/>
                <a:cs typeface="+mn-lt"/>
              </a:rPr>
              <a:t>Render.com </a:t>
            </a:r>
            <a:r>
              <a:rPr lang="en-US" b="0" dirty="0" err="1">
                <a:ea typeface="+mn-lt"/>
                <a:cs typeface="+mn-lt"/>
              </a:rPr>
              <a:t>poslužitelj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servisa</a:t>
            </a:r>
            <a:endParaRPr lang="en-US" dirty="0" err="1"/>
          </a:p>
          <a:p>
            <a:r>
              <a:rPr lang="en-US" b="0" dirty="0">
                <a:ea typeface="+mn-lt"/>
                <a:cs typeface="+mn-lt"/>
              </a:rPr>
              <a:t>Postgres </a:t>
            </a:r>
            <a:r>
              <a:rPr lang="en-US" b="0" dirty="0" err="1">
                <a:ea typeface="+mn-lt"/>
                <a:cs typeface="+mn-lt"/>
              </a:rPr>
              <a:t>baza</a:t>
            </a:r>
            <a:r>
              <a:rPr lang="en-US" b="0" dirty="0">
                <a:ea typeface="+mn-lt"/>
                <a:cs typeface="+mn-lt"/>
              </a:rPr>
              <a:t> </a:t>
            </a:r>
            <a:r>
              <a:rPr lang="en-US" b="0" dirty="0" err="1">
                <a:ea typeface="+mn-lt"/>
                <a:cs typeface="+mn-lt"/>
              </a:rPr>
              <a:t>podataka</a:t>
            </a:r>
            <a:r>
              <a:rPr lang="en-US" b="0" dirty="0">
                <a:ea typeface="+mn-lt"/>
                <a:cs typeface="+mn-lt"/>
              </a:rPr>
              <a:t> (SQL)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OAuth2 </a:t>
            </a:r>
            <a:r>
              <a:rPr lang="en-US" b="0" dirty="0" err="1">
                <a:ea typeface="+mn-lt"/>
                <a:cs typeface="+mn-lt"/>
              </a:rPr>
              <a:t>servis</a:t>
            </a:r>
            <a:r>
              <a:rPr lang="en-US" b="0" dirty="0">
                <a:ea typeface="+mn-lt"/>
                <a:cs typeface="+mn-lt"/>
              </a:rPr>
              <a:t> za </a:t>
            </a:r>
            <a:r>
              <a:rPr lang="en-US" b="0" dirty="0" err="1">
                <a:ea typeface="+mn-lt"/>
                <a:cs typeface="+mn-lt"/>
              </a:rPr>
              <a:t>autorizaciju</a:t>
            </a:r>
            <a:endParaRPr lang="en-US" dirty="0" err="1"/>
          </a:p>
          <a:p>
            <a:r>
              <a:rPr lang="en-US" b="0" dirty="0">
                <a:ea typeface="+mn-lt"/>
                <a:cs typeface="+mn-lt"/>
              </a:rPr>
              <a:t>VS Code za </a:t>
            </a:r>
            <a:r>
              <a:rPr lang="en-US" b="0" dirty="0" err="1">
                <a:ea typeface="+mn-lt"/>
                <a:cs typeface="+mn-lt"/>
              </a:rPr>
              <a:t>razvoj</a:t>
            </a:r>
            <a:r>
              <a:rPr lang="en-US" b="0" dirty="0">
                <a:ea typeface="+mn-lt"/>
                <a:cs typeface="+mn-lt"/>
              </a:rPr>
              <a:t> front </a:t>
            </a:r>
            <a:r>
              <a:rPr lang="en-US" b="0" dirty="0" err="1">
                <a:ea typeface="+mn-lt"/>
                <a:cs typeface="+mn-lt"/>
              </a:rPr>
              <a:t>enda</a:t>
            </a:r>
            <a:endParaRPr lang="en-US" dirty="0" err="1"/>
          </a:p>
          <a:p>
            <a:r>
              <a:rPr lang="en-US" b="0" dirty="0">
                <a:ea typeface="+mn-lt"/>
                <a:cs typeface="+mn-lt"/>
              </a:rPr>
              <a:t>IntelliJ IDEA za </a:t>
            </a:r>
            <a:r>
              <a:rPr lang="en-US" b="0" dirty="0" err="1">
                <a:ea typeface="+mn-lt"/>
                <a:cs typeface="+mn-lt"/>
              </a:rPr>
              <a:t>razvoj</a:t>
            </a:r>
            <a:r>
              <a:rPr lang="en-US" b="0" dirty="0">
                <a:ea typeface="+mn-lt"/>
                <a:cs typeface="+mn-lt"/>
              </a:rPr>
              <a:t> back </a:t>
            </a:r>
            <a:r>
              <a:rPr lang="en-US" b="0" dirty="0" err="1">
                <a:ea typeface="+mn-lt"/>
                <a:cs typeface="+mn-lt"/>
              </a:rPr>
              <a:t>enda</a:t>
            </a:r>
            <a:endParaRPr lang="en-US" dirty="0" err="1"/>
          </a:p>
          <a:p>
            <a:r>
              <a:rPr lang="en-US" b="0" dirty="0">
                <a:ea typeface="+mn-lt"/>
                <a:cs typeface="+mn-lt"/>
              </a:rPr>
              <a:t>Blender, Three.js - za 3D </a:t>
            </a:r>
            <a:r>
              <a:rPr lang="en-US" b="0" dirty="0" err="1">
                <a:ea typeface="+mn-lt"/>
                <a:cs typeface="+mn-lt"/>
              </a:rPr>
              <a:t>modele</a:t>
            </a:r>
            <a:endParaRPr lang="en-US" dirty="0" err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BA0A9-DA2F-84EF-41F7-573EF10F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3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F8F9F99-EB33-F189-9651-0E1EF73E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/>
              <a:t>ispitivanje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FCAF50F-55E3-546C-1095-15D4368C66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A3DD8-057B-B6F2-5B71-2F5E6833E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207E5EF-34EC-0DEE-5F20-21D13E96F8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/>
              <a:t>Svi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članovi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 </a:t>
            </a:r>
            <a:r>
              <a:rPr lang="en-US" dirty="0" err="1"/>
              <a:t>funkcionalno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manualno</a:t>
            </a:r>
            <a:r>
              <a:rPr lang="en-US" dirty="0"/>
              <a:t> </a:t>
            </a:r>
            <a:r>
              <a:rPr lang="en-US" dirty="0" err="1"/>
              <a:t>testirali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inkrementalnog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03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D464B70-71FE-75B9-4105-236911F6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/>
          <a:lstStyle/>
          <a:p>
            <a:r>
              <a:rPr lang="en-US"/>
              <a:t>Organizacija rada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84E733-4F7F-B74C-11AF-696006C3756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/>
              <a:t>Za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koristili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platforme</a:t>
            </a:r>
            <a:r>
              <a:rPr lang="en-US" dirty="0"/>
              <a:t> Discord </a:t>
            </a:r>
            <a:r>
              <a:rPr lang="en-US" dirty="0" err="1"/>
              <a:t>te</a:t>
            </a:r>
            <a:r>
              <a:rPr lang="en-US" dirty="0"/>
              <a:t> WhatsApp.</a:t>
            </a:r>
          </a:p>
          <a:p>
            <a:r>
              <a:rPr lang="en-US" dirty="0"/>
              <a:t>Pri </a:t>
            </a:r>
            <a:r>
              <a:rPr lang="en-US" dirty="0" err="1"/>
              <a:t>izradi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odabrali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 </a:t>
            </a:r>
            <a:r>
              <a:rPr lang="en-US" dirty="0" err="1"/>
              <a:t>spiralni</a:t>
            </a:r>
            <a:r>
              <a:rPr lang="en-US" dirty="0"/>
              <a:t> model </a:t>
            </a:r>
            <a:r>
              <a:rPr lang="en-US" dirty="0" err="1"/>
              <a:t>razvoja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r>
              <a:rPr lang="en-US" dirty="0" err="1"/>
              <a:t>Detaljan</a:t>
            </a:r>
            <a:r>
              <a:rPr lang="en-US" dirty="0"/>
              <a:t> plan rada u PDF </a:t>
            </a:r>
            <a:r>
              <a:rPr lang="en-US" dirty="0" err="1"/>
              <a:t>dokumentu</a:t>
            </a:r>
            <a:r>
              <a:rPr lang="en-US" dirty="0"/>
              <a:t> – </a:t>
            </a:r>
            <a:r>
              <a:rPr lang="en-US" dirty="0" err="1"/>
              <a:t>dokumentaciji</a:t>
            </a:r>
            <a:r>
              <a:rPr lang="en-US" dirty="0"/>
              <a:t>.</a:t>
            </a:r>
          </a:p>
        </p:txBody>
      </p:sp>
      <p:sp>
        <p:nvSpPr>
          <p:cNvPr id="14" name="Table Placeholder 3">
            <a:extLst>
              <a:ext uri="{FF2B5EF4-FFF2-40B4-BE49-F238E27FC236}">
                <a16:creationId xmlns:a16="http://schemas.microsoft.com/office/drawing/2014/main" id="{DE2FEC0C-5869-A416-34B6-82F239EFAB2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2575-FCB9-1C10-AE16-161100D7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2" name="Picture 1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908A3A3B-D175-734F-1302-1EE480A1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898" y="1396472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8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75F4FB3-DFE5-C0F8-D51D-FA259C2EA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 err="1"/>
              <a:t>Demonstracija</a:t>
            </a:r>
            <a:br>
              <a:rPr lang="en-US" dirty="0"/>
            </a:br>
            <a:r>
              <a:rPr lang="en-US" dirty="0" err="1"/>
              <a:t>aplikacije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5E99413-5AB7-16E4-16CE-E269DA94AF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</p:spPr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5B60BE5-F911-C95D-86E3-169DCCDE6F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0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0277D56-7FB0-9410-2F79-ED87DC34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24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1CBA-8F27-B507-03C3-27FC51DF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6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29784-6CFB-2CC3-6BBB-B4A19A68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053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00999-C3D5-22E7-F0D2-DFC91DF4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93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8E2CE-8135-697B-477C-FEF24EAF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2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FDE28-7365-AD97-3DCE-80FA964B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3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61640-6309-E6F9-0E9C-4C7F72D4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27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478EAC-6FAE-AA98-9474-E7DDB4C3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606" y="-72570"/>
            <a:ext cx="9953308" cy="1780860"/>
          </a:xfrm>
        </p:spPr>
        <p:txBody>
          <a:bodyPr>
            <a:normAutofit/>
          </a:bodyPr>
          <a:lstStyle/>
          <a:p>
            <a:r>
              <a:rPr lang="en-US" sz="3200" err="1"/>
              <a:t>zaključak</a:t>
            </a:r>
            <a:endParaRPr lang="en-US" sz="320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5D1F3A9-D4CB-5101-152B-5519F607797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199606" y="2477635"/>
            <a:ext cx="4682307" cy="3037792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po </a:t>
            </a:r>
            <a:r>
              <a:rPr lang="en-US" dirty="0" err="1"/>
              <a:t>programsko-inženjerskim</a:t>
            </a:r>
            <a:r>
              <a:rPr lang="en-US" dirty="0"/>
              <a:t> </a:t>
            </a:r>
            <a:r>
              <a:rPr lang="en-US" dirty="0" err="1"/>
              <a:t>principima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metodologijom</a:t>
            </a:r>
            <a:r>
              <a:rPr lang="en-US" dirty="0"/>
              <a:t> je </a:t>
            </a:r>
            <a:r>
              <a:rPr lang="en-US" dirty="0" err="1"/>
              <a:t>zahtjevan</a:t>
            </a:r>
            <a:r>
              <a:rPr lang="en-US" dirty="0"/>
              <a:t>. No, on je </a:t>
            </a:r>
            <a:r>
              <a:rPr lang="en-US" dirty="0" err="1"/>
              <a:t>sveobuhvatan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garantira</a:t>
            </a:r>
            <a:r>
              <a:rPr lang="en-US" dirty="0"/>
              <a:t> </a:t>
            </a:r>
            <a:r>
              <a:rPr lang="en-US" dirty="0" err="1"/>
              <a:t>kvalitetan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izvanredan</a:t>
            </a:r>
            <a:r>
              <a:rPr lang="en-US" dirty="0"/>
              <a:t> </a:t>
            </a:r>
            <a:r>
              <a:rPr lang="en-US" dirty="0" err="1"/>
              <a:t>ishod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DB295817-FFDD-DB3B-D419-9F032AAF3B3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98624" y="2965631"/>
            <a:ext cx="3242491" cy="3031489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/>
              <a:t>U </a:t>
            </a:r>
            <a:r>
              <a:rPr lang="en-US" dirty="0" err="1"/>
              <a:t>razvoju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od </a:t>
            </a:r>
            <a:r>
              <a:rPr lang="en-US" dirty="0" err="1"/>
              <a:t>najveće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važnosti</a:t>
            </a:r>
            <a:r>
              <a:rPr lang="en-US" dirty="0"/>
              <a:t> bile </a:t>
            </a:r>
            <a:r>
              <a:rPr lang="en-US" dirty="0" err="1"/>
              <a:t>kolegijalnost</a:t>
            </a:r>
            <a:r>
              <a:rPr lang="en-US" dirty="0"/>
              <a:t>, </a:t>
            </a:r>
            <a:r>
              <a:rPr lang="en-US" dirty="0" err="1"/>
              <a:t>poštivanje</a:t>
            </a:r>
            <a:r>
              <a:rPr lang="en-US" dirty="0"/>
              <a:t> </a:t>
            </a:r>
            <a:r>
              <a:rPr lang="en-US" dirty="0" err="1"/>
              <a:t>pojedinaca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načela</a:t>
            </a:r>
            <a:r>
              <a:rPr lang="en-US" dirty="0"/>
              <a:t> </a:t>
            </a:r>
            <a:r>
              <a:rPr lang="en-US" dirty="0" err="1"/>
              <a:t>etike</a:t>
            </a:r>
            <a:r>
              <a:rPr lang="en-US" dirty="0"/>
              <a:t> </a:t>
            </a:r>
            <a:r>
              <a:rPr lang="en-US" dirty="0" err="1"/>
              <a:t>programskog</a:t>
            </a:r>
            <a:r>
              <a:rPr lang="en-US" dirty="0"/>
              <a:t> </a:t>
            </a:r>
            <a:r>
              <a:rPr lang="en-US" dirty="0" err="1"/>
              <a:t>inženjera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Najveći</a:t>
            </a:r>
            <a:r>
              <a:rPr lang="en-US" dirty="0"/>
              <a:t> </a:t>
            </a:r>
            <a:r>
              <a:rPr lang="en-US" dirty="0" err="1"/>
              <a:t>izazov</a:t>
            </a:r>
            <a:r>
              <a:rPr lang="en-US" dirty="0"/>
              <a:t> bio je </a:t>
            </a:r>
            <a:r>
              <a:rPr lang="en-US" dirty="0" err="1"/>
              <a:t>međusobno</a:t>
            </a:r>
            <a:r>
              <a:rPr lang="en-US" dirty="0"/>
              <a:t> </a:t>
            </a:r>
            <a:r>
              <a:rPr lang="en-US" dirty="0" err="1"/>
              <a:t>usklađivanje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pojedinaca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07663-DBA8-BCCD-9E55-9894AFF80D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F5F4CDBC-AF42-C252-5450-4914CB599634}"/>
              </a:ext>
            </a:extLst>
          </p:cNvPr>
          <p:cNvSpPr/>
          <p:nvPr/>
        </p:nvSpPr>
        <p:spPr>
          <a:xfrm>
            <a:off x="1286144" y="4486228"/>
            <a:ext cx="1562260" cy="1405845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42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2523" y="2958816"/>
            <a:ext cx="4941771" cy="3200400"/>
          </a:xfrm>
        </p:spPr>
        <p:txBody>
          <a:bodyPr anchor="ctr"/>
          <a:lstStyle/>
          <a:p>
            <a:pPr algn="ctr"/>
            <a:r>
              <a:rPr lang="en-US" dirty="0">
                <a:latin typeface="Tenorite"/>
              </a:rPr>
              <a:t>ZAHVALJUJEMO NA PAŽNJI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137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Custom</vt:lpstr>
      <vt:lpstr>Prezentacija projekta</vt:lpstr>
      <vt:lpstr>Sadržaj</vt:lpstr>
      <vt:lpstr>O projektu</vt:lpstr>
      <vt:lpstr>Članovi tima I zaduženja</vt:lpstr>
      <vt:lpstr>Primjeri funkcijskih zahtjeva</vt:lpstr>
      <vt:lpstr>PrimjeR UML dijagrama obrazaca uporabe </vt:lpstr>
      <vt:lpstr>Arhitektura sustava</vt:lpstr>
      <vt:lpstr>Alati I tehnologije</vt:lpstr>
      <vt:lpstr>ispitivanje</vt:lpstr>
      <vt:lpstr>Organizacija rada</vt:lpstr>
      <vt:lpstr>Demonstracija aplikacije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zaključak</vt:lpstr>
      <vt:lpstr>ZAHVALJUJEMO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530</cp:revision>
  <dcterms:created xsi:type="dcterms:W3CDTF">2026-01-20T22:46:07Z</dcterms:created>
  <dcterms:modified xsi:type="dcterms:W3CDTF">2026-01-23T22:38:29Z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